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9" r:id="rId5"/>
  </p:sldMasterIdLst>
  <p:notesMasterIdLst>
    <p:notesMasterId r:id="rId49"/>
  </p:notesMasterIdLst>
  <p:sldIdLst>
    <p:sldId id="256" r:id="rId6"/>
    <p:sldId id="298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6858000" type="screen4x3"/>
  <p:notesSz cx="7010400" cy="9296400"/>
  <p:embeddedFontLst>
    <p:embeddedFont>
      <p:font typeface="Impact" panose="020B0806030902050204" pitchFamily="34" charset="0"/>
      <p:regular r:id="rId50"/>
    </p:embeddedFont>
    <p:embeddedFont>
      <p:font typeface="Montserrat" panose="00000500000000000000" pitchFamily="2" charset="0"/>
      <p:regular r:id="rId51"/>
      <p:bold r:id="rId52"/>
      <p:italic r:id="rId53"/>
      <p:boldItalic r:id="rId54"/>
    </p:embeddedFont>
    <p:embeddedFont>
      <p:font typeface="Tahoma" panose="020B0604030504040204" pitchFamily="34" charset="0"/>
      <p:regular r:id="rId55"/>
      <p:bold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000000"/>
          </p15:clr>
        </p15:guide>
        <p15:guide id="2" pos="2208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hoq1jn2A+B6vykmM9K0A7sGZqx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68" y="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font" Target="fonts/font4.fntdata"/><Relationship Id="rId58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7.fntdata"/><Relationship Id="rId8" Type="http://schemas.openxmlformats.org/officeDocument/2006/relationships/slide" Target="slides/slide3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Relationship Id="rId57" Type="http://customschemas.google.com/relationships/presentationmetadata" Target="meta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font" Target="fonts/font3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925" y="0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2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  <p:sp>
        <p:nvSpPr>
          <p:cNvPr id="104" name="Google Shape;104;p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/>
          </a:p>
        </p:txBody>
      </p:sp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2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Two slides should be added after this one</a:t>
            </a: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1.  Evolution of machine learning</a:t>
            </a: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2.  Evolution of statistics methods</a:t>
            </a: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4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08" name="Google Shape;30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1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16" name="Google Shape;3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6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25" name="Google Shape;3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333" name="Google Shape;33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342" name="Google Shape;3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3" name="Google Shape;343;p19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 BELIEVE WE MAY NEED TO DO IT IN MORE IN-DEPTH INTRODUCTION, USING SOME EXAMPLES.  So it will take one slide for one function, i.e., one chapter we want to cover.  Do we need to cover chapter 2: preprocessing and 3. Statistical methods?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350" name="Google Shape;3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2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/>
          </a:p>
        </p:txBody>
      </p:sp>
      <p:sp>
        <p:nvSpPr>
          <p:cNvPr id="358" name="Google Shape;3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2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/>
          </a:p>
        </p:txBody>
      </p:sp>
      <p:sp>
        <p:nvSpPr>
          <p:cNvPr id="366" name="Google Shape;3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5" name="Google Shape;375;p2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/>
          </a:p>
        </p:txBody>
      </p:sp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24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5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/>
          </a:p>
        </p:txBody>
      </p:sp>
      <p:sp>
        <p:nvSpPr>
          <p:cNvPr id="390" name="Google Shape;3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2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This chapter will not be in the new version, will it?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BUT SHOULD WESTILL  INTRODCE THEM SO THAT THEY WILL GET AN OVERALL PICTURE?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/>
          </a:p>
        </p:txBody>
      </p:sp>
      <p:sp>
        <p:nvSpPr>
          <p:cNvPr id="398" name="Google Shape;3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6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fcd378a1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fcd378a14c_0_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200" cy="418320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2fcd378a14c_0_0:notes"/>
          <p:cNvSpPr txBox="1">
            <a:spLocks noGrp="1"/>
          </p:cNvSpPr>
          <p:nvPr>
            <p:ph type="sldNum" idx="12"/>
          </p:nvPr>
        </p:nvSpPr>
        <p:spPr>
          <a:xfrm>
            <a:off x="3971925" y="8831262"/>
            <a:ext cx="3038400" cy="465000"/>
          </a:xfrm>
          <a:prstGeom prst="rect">
            <a:avLst/>
          </a:prstGeom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/>
              <a:t>28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7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/>
          </a:p>
        </p:txBody>
      </p:sp>
      <p:sp>
        <p:nvSpPr>
          <p:cNvPr id="414" name="Google Shape;41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7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8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/>
          </a:p>
        </p:txBody>
      </p:sp>
      <p:sp>
        <p:nvSpPr>
          <p:cNvPr id="423" name="Google Shape;42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2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9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/>
          </a:p>
        </p:txBody>
      </p:sp>
      <p:sp>
        <p:nvSpPr>
          <p:cNvPr id="447" name="Google Shape;4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29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Add a definition/description of “traditional data analysis”.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/>
          </a:p>
        </p:txBody>
      </p:sp>
      <p:sp>
        <p:nvSpPr>
          <p:cNvPr id="455" name="Google Shape;45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/>
          </a:p>
        </p:txBody>
      </p:sp>
      <p:sp>
        <p:nvSpPr>
          <p:cNvPr id="464" name="Google Shape;4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3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/>
          </a:p>
        </p:txBody>
      </p:sp>
      <p:sp>
        <p:nvSpPr>
          <p:cNvPr id="472" name="Google Shape;47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32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/>
          </a:p>
        </p:txBody>
      </p:sp>
      <p:sp>
        <p:nvSpPr>
          <p:cNvPr id="481" name="Google Shape;48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p33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36</a:t>
            </a:fld>
            <a:endParaRPr/>
          </a:p>
        </p:txBody>
      </p:sp>
      <p:sp>
        <p:nvSpPr>
          <p:cNvPr id="489" name="Google Shape;48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34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37</a:t>
            </a:fld>
            <a:endParaRPr/>
          </a:p>
        </p:txBody>
      </p:sp>
      <p:sp>
        <p:nvSpPr>
          <p:cNvPr id="497" name="Google Shape;49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35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38</a:t>
            </a:fld>
            <a:endParaRPr/>
          </a:p>
        </p:txBody>
      </p:sp>
      <p:sp>
        <p:nvSpPr>
          <p:cNvPr id="506" name="Google Shape;50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36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7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39</a:t>
            </a:fld>
            <a:endParaRPr/>
          </a:p>
        </p:txBody>
      </p:sp>
      <p:sp>
        <p:nvSpPr>
          <p:cNvPr id="514" name="Google Shape;51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37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/>
          </a:p>
        </p:txBody>
      </p:sp>
      <p:sp>
        <p:nvSpPr>
          <p:cNvPr id="523" name="Google Shape;5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38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41</a:t>
            </a:fld>
            <a:endParaRPr/>
          </a:p>
        </p:txBody>
      </p:sp>
      <p:sp>
        <p:nvSpPr>
          <p:cNvPr id="531" name="Google Shape;53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39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42</a:t>
            </a:fld>
            <a:endParaRPr/>
          </a:p>
        </p:txBody>
      </p:sp>
      <p:sp>
        <p:nvSpPr>
          <p:cNvPr id="540" name="Google Shape;540;p40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1:notes"/>
          <p:cNvSpPr txBox="1"/>
          <p:nvPr/>
        </p:nvSpPr>
        <p:spPr>
          <a:xfrm>
            <a:off x="3971925" y="8831262"/>
            <a:ext cx="3038475" cy="465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43</a:t>
            </a:fld>
            <a:endParaRPr/>
          </a:p>
        </p:txBody>
      </p:sp>
      <p:sp>
        <p:nvSpPr>
          <p:cNvPr id="548" name="Google Shape;54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41:notes"/>
          <p:cNvSpPr txBox="1">
            <a:spLocks noGrp="1"/>
          </p:cNvSpPr>
          <p:nvPr>
            <p:ph type="body" idx="1"/>
          </p:nvPr>
        </p:nvSpPr>
        <p:spPr>
          <a:xfrm>
            <a:off x="935037" y="4416425"/>
            <a:ext cx="5140325" cy="4183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3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3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3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4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4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4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4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4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5"/>
          <p:cNvSpPr txBox="1">
            <a:spLocks noGrp="1"/>
          </p:cNvSpPr>
          <p:nvPr>
            <p:ph type="title"/>
          </p:nvPr>
        </p:nvSpPr>
        <p:spPr>
          <a:xfrm rot="5400000">
            <a:off x="4619625" y="2333625"/>
            <a:ext cx="6324600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body" idx="1"/>
          </p:nvPr>
        </p:nvSpPr>
        <p:spPr>
          <a:xfrm rot="5400000">
            <a:off x="314325" y="295275"/>
            <a:ext cx="6324600" cy="619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6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body" idx="1"/>
          </p:nvPr>
        </p:nvSpPr>
        <p:spPr>
          <a:xfrm rot="5400000">
            <a:off x="2057400" y="-228600"/>
            <a:ext cx="5105400" cy="84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6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6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4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42" name="Google Shape;42;p47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7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7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marL="914400" lvl="1" indent="-32639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marL="1371600" lvl="2" indent="-3048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1828800" lvl="3" indent="-2984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marL="2286000" lvl="4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marL="2743200" lvl="5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marL="3200400" lvl="6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marL="3657600" lvl="7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marL="4114800" lvl="8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lnSpc>
                <a:spcPct val="8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49" name="Google Shape;49;p48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8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8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9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61" name="Google Shape;61;p5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5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63" name="Google Shape;63;p50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1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1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41529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69" name="Google Shape;69;p51"/>
          <p:cNvSpPr txBox="1">
            <a:spLocks noGrp="1"/>
          </p:cNvSpPr>
          <p:nvPr>
            <p:ph type="body" idx="2"/>
          </p:nvPr>
        </p:nvSpPr>
        <p:spPr>
          <a:xfrm>
            <a:off x="4686300" y="1447800"/>
            <a:ext cx="41529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1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marL="914400" lvl="1" indent="-22860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marL="1371600" lvl="2" indent="-22860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marL="2286000" lvl="4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52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2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2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4"/>
          <p:cNvSpPr txBox="1">
            <a:spLocks noGrp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  <a:defRPr/>
            </a:lvl1pPr>
            <a:lvl2pPr lvl="1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54"/>
          <p:cNvSpPr txBox="1">
            <a:spLocks noGrp="1"/>
          </p:cNvSpPr>
          <p:nvPr>
            <p:ph type="dt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54"/>
          <p:cNvSpPr txBox="1">
            <a:spLocks noGrp="1"/>
          </p:cNvSpPr>
          <p:nvPr>
            <p:ph type="ft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4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" name="Google Shape;11;p42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12419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048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" name="Google Shape;12;p42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42"/>
          <p:cNvSpPr txBox="1">
            <a:spLocks noGrp="1"/>
          </p:cNvSpPr>
          <p:nvPr>
            <p:ph type="ftr" idx="11"/>
          </p:nvPr>
        </p:nvSpPr>
        <p:spPr>
          <a:xfrm>
            <a:off x="3276600" y="6477000"/>
            <a:ext cx="2895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" name="Google Shape;15;p42"/>
          <p:cNvGraphicFramePr/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382000" imgH="76200" progId="MS_ClipArt_Gallery.5">
                  <p:embed/>
                </p:oleObj>
              </mc:Choice>
              <mc:Fallback>
                <p:oleObj r:id="rId12" imgW="8382000" imgH="76200" progId="MS_ClipArt_Gallery.5">
                  <p:embed/>
                  <p:pic>
                    <p:nvPicPr>
                      <p:cNvPr id="15" name="Google Shape;15;p42"/>
                      <p:cNvPicPr preferRelativeResize="0"/>
                      <p:nvPr/>
                    </p:nvPicPr>
                    <p:blipFill rotWithShape="1">
                      <a:blip r:embed="rId13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53"/>
          <p:cNvGrpSpPr/>
          <p:nvPr/>
        </p:nvGrpSpPr>
        <p:grpSpPr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81" name="Google Shape;81;p5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82" name="Google Shape;82;p53"/>
              <p:cNvSpPr txBox="1"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3" name="Google Shape;83;p53"/>
              <p:cNvSpPr txBox="1"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84" name="Google Shape;84;p53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5" name="Google Shape;85;p53"/>
              <p:cNvSpPr txBox="1"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6" name="Google Shape;86;p53"/>
              <p:cNvSpPr txBox="1"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7" name="Google Shape;87;p53"/>
            <p:cNvSpPr txBox="1"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" name="Google Shape;88;p53"/>
            <p:cNvSpPr txBox="1"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53"/>
            <p:cNvSpPr txBox="1"/>
            <p:nvPr/>
          </p:nvSpPr>
          <p:spPr>
            <a:xfrm rot="10800000" flipH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0" name="Google Shape;90;p53"/>
          <p:cNvSpPr txBox="1"/>
          <p:nvPr/>
        </p:nvSpPr>
        <p:spPr>
          <a:xfrm>
            <a:off x="8694737" y="6553200"/>
            <a:ext cx="4492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1" name="Google Shape;91;p53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2" name="Google Shape;92;p53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528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12419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048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3" name="Google Shape;93;p53"/>
          <p:cNvSpPr txBox="1">
            <a:spLocks noGrp="1"/>
          </p:cNvSpPr>
          <p:nvPr>
            <p:ph type="dt" idx="10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4" name="Google Shape;94;p53"/>
          <p:cNvSpPr txBox="1">
            <a:spLocks noGrp="1"/>
          </p:cNvSpPr>
          <p:nvPr>
            <p:ph type="ft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95" name="Google Shape;95;p53"/>
          <p:cNvSpPr txBox="1">
            <a:spLocks noGrp="1"/>
          </p:cNvSpPr>
          <p:nvPr>
            <p:ph type="sldNum" idx="12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sz="1400" b="0" i="0" u="non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title" idx="4294967295"/>
          </p:nvPr>
        </p:nvSpPr>
        <p:spPr>
          <a:xfrm>
            <a:off x="152400" y="152400"/>
            <a:ext cx="87630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Tahoma"/>
              <a:buNone/>
            </a:pPr>
            <a:r>
              <a:rPr lang="en-US" sz="60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Mining: </a:t>
            </a:r>
            <a:br>
              <a:rPr lang="en-US" sz="60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60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4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Concepts and Techniques</a:t>
            </a:r>
            <a:br>
              <a:rPr lang="en-US" sz="4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4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(3</a:t>
            </a:r>
            <a:r>
              <a:rPr lang="en-US" sz="2800" b="1" i="0" u="none" strike="noStrike" cap="none" baseline="300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rd</a:t>
            </a:r>
            <a:r>
              <a:rPr lang="en-US" sz="2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ed.)</a:t>
            </a:r>
            <a:br>
              <a:rPr lang="en-US" sz="4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4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32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— Chapter 1</a:t>
            </a:r>
            <a:r>
              <a:rPr lang="en-US" sz="2800" b="1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—</a:t>
            </a:r>
            <a:endParaRPr/>
          </a:p>
        </p:txBody>
      </p:sp>
      <p:sp>
        <p:nvSpPr>
          <p:cNvPr id="111" name="Google Shape;111;p1"/>
          <p:cNvSpPr txBox="1">
            <a:spLocks noGrp="1"/>
          </p:cNvSpPr>
          <p:nvPr>
            <p:ph type="body" idx="4294967295"/>
          </p:nvPr>
        </p:nvSpPr>
        <p:spPr>
          <a:xfrm>
            <a:off x="304800" y="4419600"/>
            <a:ext cx="86106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Jiawei Han, Micheline Kamber, and Jian Pei</a:t>
            </a:r>
            <a:endParaRPr/>
          </a:p>
          <a:p>
            <a:pPr marL="342900" marR="0" lvl="0" indent="-342900" algn="ctr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University of Illinois at Urbana-Champaign &amp;</a:t>
            </a:r>
            <a:endParaRPr/>
          </a:p>
          <a:p>
            <a:pPr marL="342900" marR="0" lvl="0" indent="-342900" algn="ctr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Simon Fraser University</a:t>
            </a:r>
            <a:endParaRPr/>
          </a:p>
          <a:p>
            <a:pPr marL="342900" marR="0" lvl="0" indent="-342900" algn="ctr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©2011 Han, Kamber &amp; Pei.  All rights reserved.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3820-938C-4CA4-B30E-349B15FF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Gold Mining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2F1E7-8D08-4BE2-BAB0-E8B464D42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740" y="1612050"/>
            <a:ext cx="4545748" cy="28935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5AE65-61A6-4671-896C-F13666CF63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3074" name="Picture 2" descr="Sado Island Gold Mines in Japan designated UNESCO World Heritage Site">
            <a:extLst>
              <a:ext uri="{FF2B5EF4-FFF2-40B4-BE49-F238E27FC236}">
                <a16:creationId xmlns:a16="http://schemas.microsoft.com/office/drawing/2014/main" id="{2AB3CB6F-5BE1-418C-B34F-96DCB9B7D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75" y="2476318"/>
            <a:ext cx="3279632" cy="218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BF99EB-F457-4A62-AFC0-49337CBAE136}"/>
              </a:ext>
            </a:extLst>
          </p:cNvPr>
          <p:cNvSpPr txBox="1"/>
          <p:nvPr/>
        </p:nvSpPr>
        <p:spPr>
          <a:xfrm>
            <a:off x="-27684" y="4662390"/>
            <a:ext cx="4580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Historic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Sado</a:t>
            </a:r>
            <a:r>
              <a:rPr lang="en-US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 Island Gold Mines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12867-24AE-4E09-8442-02DFC2DB5F95}"/>
              </a:ext>
            </a:extLst>
          </p:cNvPr>
          <p:cNvSpPr txBox="1"/>
          <p:nvPr/>
        </p:nvSpPr>
        <p:spPr>
          <a:xfrm>
            <a:off x="4334310" y="4662390"/>
            <a:ext cx="45807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FF0000"/>
                </a:solidFill>
                <a:effectLst/>
                <a:latin typeface="Montserrat" panose="00000500000000000000" pitchFamily="2" charset="0"/>
              </a:rPr>
              <a:t>Gold Mining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6670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 rot="9720000">
            <a:off x="3314700" y="1346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Why Data Mining? </a:t>
            </a:r>
            <a:endParaRPr/>
          </a:p>
        </p:txBody>
      </p:sp>
      <p:sp>
        <p:nvSpPr>
          <p:cNvPr id="128" name="Google Shape;128;p3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Explosive Growth of Data: from terabytes to petabytes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collection and data availability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Automated data collection tools, database systems, Web, computerized society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sources of abundant data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Business: Web, e-commerce, transactions, stocks, …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Science: Remote sensing, bioinformatics, scientific simulation, … </a:t>
            </a:r>
            <a:endParaRPr/>
          </a:p>
          <a:p>
            <a:pPr marL="114300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Society and everyone: news, digital cameras, YouTube   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are drowning in data, but starving for knowledge!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“Necessity is the mother of invention”—Data mining—Automated analysis of massive data sets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135" name="Google Shape;135;p4"/>
          <p:cNvSpPr txBox="1">
            <a:spLocks noGrp="1"/>
          </p:cNvSpPr>
          <p:nvPr>
            <p:ph type="title"/>
          </p:nvPr>
        </p:nvSpPr>
        <p:spPr>
          <a:xfrm>
            <a:off x="990600" y="347662"/>
            <a:ext cx="72390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Evolution of Sciences</a:t>
            </a:r>
            <a:endParaRPr/>
          </a:p>
        </p:txBody>
      </p: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5344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Before 1600, </a:t>
            </a:r>
            <a:r>
              <a:rPr lang="en-US" sz="16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empirical science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1600-1950s, </a:t>
            </a:r>
            <a:r>
              <a:rPr lang="en-US" sz="16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theoretical science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discipline has grown a </a:t>
            </a:r>
            <a:r>
              <a:rPr lang="en-US" sz="1600" b="0" i="1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theoretical 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component. Theoretical models often motivate experiments and generalize our understanding.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1950s-1990s, </a:t>
            </a:r>
            <a:r>
              <a:rPr lang="en-US" sz="16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computational science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Over the last 50 years, most disciplines have grown a third, </a:t>
            </a:r>
            <a:r>
              <a:rPr lang="en-US" sz="1600" b="0" i="1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computational 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branch (e.g. empirical, theoretical, and computational ecology, or physics, or linguistics.)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Computational Science traditionally meant simulation. It grew out of our inability to find closed-form solutions for complex mathematical models.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1990-now, </a:t>
            </a:r>
            <a:r>
              <a:rPr lang="en-US" sz="16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science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flood of data from new scientific instruments and simulations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ability to economically store and manage petabytes of data online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Internet and computing Grid that makes all these archives universally accessible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hlink"/>
              </a:buClr>
              <a:buSzPts val="88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Scientific info. management, acquisition, organization, query, and visualization tasks scale almost linearly with data volumes.  </a:t>
            </a:r>
            <a:r>
              <a:rPr lang="en-US" sz="16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Data mining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a major new challenge!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Jim Gray and Alex Szalay, </a:t>
            </a:r>
            <a:r>
              <a:rPr lang="en-US" sz="1600" b="0" i="1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World Wide Telescope: An Archetype for Online Science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Comm. ACM, 45(11): 50-54, Nov. 2002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990600" y="347662"/>
            <a:ext cx="7239000" cy="566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Evolution of Database Technology</a:t>
            </a:r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1960s: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collection, database creation, IMS and network DBMS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1970s: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Relational data model, relational DBMS implementation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1980s: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RDBMS, advanced data models (extended-relational, OO, deductive, etc.)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Application-oriented DBMS (spatial, scientific, engineering, etc.)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1990s: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mining, data warehousing, multimedia databases, and Web databases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2000s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Stream data management and mining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and its applications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technology (XML, data integration) and global information systems</a:t>
            </a:r>
            <a:r>
              <a:rPr lang="en-US" sz="9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 rot="9720000">
            <a:off x="3467100" y="1879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title"/>
          </p:nvPr>
        </p:nvSpPr>
        <p:spPr>
          <a:xfrm>
            <a:off x="901700" y="300037"/>
            <a:ext cx="6794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</p:txBody>
      </p:sp>
      <p:sp>
        <p:nvSpPr>
          <p:cNvPr id="161" name="Google Shape;161;p7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(knowledge discovery from data)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Extraction of interesting 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lang="en-US" sz="20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non-trivial,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implicit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lang="en-US" sz="20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previously unknown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lang="en-US" sz="20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potentially useful)</a:t>
            </a: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patterns or knowledge from huge amount of data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mining: a misnomer?</a:t>
            </a:r>
            <a:endParaRPr sz="16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Alternative names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Knowledge discovery (mining) in databases (KDD), knowledge extraction, data/pattern analysis, data archeology, data dredging, information harvesting, business intelligence, etc.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Watch out: Is everything “data mining”?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 search and query processing  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(Deductive) expert systems</a:t>
            </a:r>
            <a:endParaRPr/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7848600" y="0"/>
          <a:ext cx="10874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87437" imgH="1295400" progId="MS_ClipArt_Gallery.2">
                  <p:embed/>
                </p:oleObj>
              </mc:Choice>
              <mc:Fallback>
                <p:oleObj r:id="rId3" imgW="1087437" imgH="1295400" progId="MS_ClipArt_Gallery.2">
                  <p:embed/>
                  <p:pic>
                    <p:nvPicPr>
                      <p:cNvPr id="162" name="Google Shape;162;p7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848600" y="0"/>
                        <a:ext cx="1087437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Google Shape;163;p7"/>
          <p:cNvGraphicFramePr/>
          <p:nvPr/>
        </p:nvGraphicFramePr>
        <p:xfrm>
          <a:off x="7239000" y="5105400"/>
          <a:ext cx="1905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05000" imgH="1397000" progId="MS_ClipArt_Gallery.2">
                  <p:embed/>
                </p:oleObj>
              </mc:Choice>
              <mc:Fallback>
                <p:oleObj r:id="rId5" imgW="1905000" imgH="1397000" progId="MS_ClipArt_Gallery.2">
                  <p:embed/>
                  <p:pic>
                    <p:nvPicPr>
                      <p:cNvPr id="163" name="Google Shape;163;p7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/>
                      <a:stretch/>
                    </p:blipFill>
                    <p:spPr>
                      <a:xfrm>
                        <a:off x="7239000" y="5105400"/>
                        <a:ext cx="19050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170" name="Google Shape;170;p8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Knowledge Discovery (KDD) Process</a:t>
            </a:r>
            <a:endParaRPr/>
          </a:p>
        </p:txBody>
      </p:sp>
      <p:sp>
        <p:nvSpPr>
          <p:cNvPr id="171" name="Google Shape;171;p8"/>
          <p:cNvSpPr txBox="1">
            <a:spLocks noGrp="1"/>
          </p:cNvSpPr>
          <p:nvPr>
            <p:ph type="body" idx="1"/>
          </p:nvPr>
        </p:nvSpPr>
        <p:spPr>
          <a:xfrm>
            <a:off x="152400" y="1295400"/>
            <a:ext cx="4419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a view from typical database systems and data warehousing communities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plays an essential role in the knowledge discovery process</a:t>
            </a:r>
            <a:endParaRPr/>
          </a:p>
        </p:txBody>
      </p:sp>
      <p:cxnSp>
        <p:nvCxnSpPr>
          <p:cNvPr id="172" name="Google Shape;172;p8"/>
          <p:cNvCxnSpPr/>
          <p:nvPr/>
        </p:nvCxnSpPr>
        <p:spPr>
          <a:xfrm rot="10800000" flipH="1">
            <a:off x="1219200" y="5105400"/>
            <a:ext cx="990600" cy="609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73" name="Google Shape;173;p8"/>
          <p:cNvCxnSpPr/>
          <p:nvPr/>
        </p:nvCxnSpPr>
        <p:spPr>
          <a:xfrm rot="10800000" flipH="1">
            <a:off x="6781800" y="1600200"/>
            <a:ext cx="990600" cy="609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74" name="Google Shape;174;p8"/>
          <p:cNvCxnSpPr/>
          <p:nvPr/>
        </p:nvCxnSpPr>
        <p:spPr>
          <a:xfrm rot="10800000" flipH="1">
            <a:off x="5105400" y="2667000"/>
            <a:ext cx="990600" cy="609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75" name="Google Shape;175;p8"/>
          <p:cNvCxnSpPr/>
          <p:nvPr/>
        </p:nvCxnSpPr>
        <p:spPr>
          <a:xfrm rot="10800000" flipH="1">
            <a:off x="3276600" y="3733800"/>
            <a:ext cx="990600" cy="609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76" name="Google Shape;176;p8"/>
          <p:cNvSpPr/>
          <p:nvPr/>
        </p:nvSpPr>
        <p:spPr>
          <a:xfrm>
            <a:off x="228600" y="5562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228600" y="56388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28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09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609600" y="60198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09600" y="6324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295400" y="57150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1295400" y="57912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295400" y="60960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304800" y="4876800"/>
            <a:ext cx="17430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1600200" y="5410200"/>
            <a:ext cx="1995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Integration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1371600" y="62484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Databases</a:t>
            </a:r>
            <a:endParaRPr/>
          </a:p>
        </p:txBody>
      </p:sp>
      <p:sp>
        <p:nvSpPr>
          <p:cNvPr id="188" name="Google Shape;188;p8"/>
          <p:cNvSpPr txBox="1"/>
          <p:nvPr/>
        </p:nvSpPr>
        <p:spPr>
          <a:xfrm>
            <a:off x="1066800" y="4114800"/>
            <a:ext cx="19970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Warehouse</a:t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2362200" y="4572000"/>
            <a:ext cx="685800" cy="685800"/>
          </a:xfrm>
          <a:prstGeom prst="rect">
            <a:avLst/>
          </a:prstGeom>
          <a:solidFill>
            <a:srgbClr val="00CC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4419600" y="3429000"/>
            <a:ext cx="457200" cy="457200"/>
          </a:xfrm>
          <a:prstGeom prst="rect">
            <a:avLst/>
          </a:prstGeom>
          <a:solidFill>
            <a:srgbClr val="00CC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477000" y="1981200"/>
            <a:ext cx="76200" cy="6096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6553200" y="2209800"/>
            <a:ext cx="76200" cy="3810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400800" y="2133600"/>
            <a:ext cx="762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6629400" y="2362200"/>
            <a:ext cx="76200" cy="2286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6172200" y="2590800"/>
            <a:ext cx="685800" cy="76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6248400" y="2362200"/>
            <a:ext cx="152400" cy="228600"/>
          </a:xfrm>
          <a:prstGeom prst="rect">
            <a:avLst/>
          </a:prstGeom>
          <a:solidFill>
            <a:srgbClr val="FF99FF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7086600" y="990600"/>
            <a:ext cx="1743075" cy="6127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gradFill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0"/>
                </a:gradFill>
                <a:latin typeface="Impact"/>
              </a:rPr>
              <a:t>Knowledge </a:t>
            </a:r>
          </a:p>
        </p:txBody>
      </p:sp>
      <p:sp>
        <p:nvSpPr>
          <p:cNvPr id="198" name="Google Shape;198;p8"/>
          <p:cNvSpPr txBox="1"/>
          <p:nvPr/>
        </p:nvSpPr>
        <p:spPr>
          <a:xfrm>
            <a:off x="2514600" y="3276600"/>
            <a:ext cx="22780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Task-relevant Data</a:t>
            </a:r>
            <a:endParaRPr/>
          </a:p>
        </p:txBody>
      </p:sp>
      <p:sp>
        <p:nvSpPr>
          <p:cNvPr id="199" name="Google Shape;199;p8"/>
          <p:cNvSpPr txBox="1"/>
          <p:nvPr/>
        </p:nvSpPr>
        <p:spPr>
          <a:xfrm>
            <a:off x="3641725" y="4052887"/>
            <a:ext cx="11557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</a:t>
            </a:r>
            <a:endParaRPr/>
          </a:p>
        </p:txBody>
      </p:sp>
      <p:sp>
        <p:nvSpPr>
          <p:cNvPr id="200" name="Google Shape;200;p8"/>
          <p:cNvSpPr txBox="1"/>
          <p:nvPr/>
        </p:nvSpPr>
        <p:spPr>
          <a:xfrm>
            <a:off x="4267200" y="2590800"/>
            <a:ext cx="1558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Mining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257800" y="1676400"/>
            <a:ext cx="2249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 Evaluation</a:t>
            </a:r>
            <a:endParaRPr/>
          </a:p>
        </p:txBody>
      </p:sp>
      <p:cxnSp>
        <p:nvCxnSpPr>
          <p:cNvPr id="202" name="Google Shape;202;p8"/>
          <p:cNvCxnSpPr/>
          <p:nvPr/>
        </p:nvCxnSpPr>
        <p:spPr>
          <a:xfrm>
            <a:off x="5638800" y="3124200"/>
            <a:ext cx="0" cy="213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03" name="Google Shape;203;p8"/>
          <p:cNvCxnSpPr/>
          <p:nvPr/>
        </p:nvCxnSpPr>
        <p:spPr>
          <a:xfrm>
            <a:off x="7315200" y="2057400"/>
            <a:ext cx="0" cy="3200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4" name="Google Shape;204;p8"/>
          <p:cNvCxnSpPr/>
          <p:nvPr/>
        </p:nvCxnSpPr>
        <p:spPr>
          <a:xfrm rot="10800000">
            <a:off x="3962400" y="5257800"/>
            <a:ext cx="3352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5" name="Google Shape;205;p8"/>
          <p:cNvCxnSpPr/>
          <p:nvPr/>
        </p:nvCxnSpPr>
        <p:spPr>
          <a:xfrm rot="10800000">
            <a:off x="3962400" y="4343400"/>
            <a:ext cx="0" cy="914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6" name="Google Shape;206;p8"/>
          <p:cNvCxnSpPr/>
          <p:nvPr/>
        </p:nvCxnSpPr>
        <p:spPr>
          <a:xfrm>
            <a:off x="7315200" y="5257800"/>
            <a:ext cx="0" cy="838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7" name="Google Shape;207;p8"/>
          <p:cNvCxnSpPr/>
          <p:nvPr/>
        </p:nvCxnSpPr>
        <p:spPr>
          <a:xfrm rot="10800000">
            <a:off x="2286000" y="6096000"/>
            <a:ext cx="5029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8" name="Google Shape;208;p8"/>
          <p:cNvCxnSpPr/>
          <p:nvPr/>
        </p:nvCxnSpPr>
        <p:spPr>
          <a:xfrm rot="10800000">
            <a:off x="1905000" y="5410200"/>
            <a:ext cx="381000" cy="685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09" name="Google Shape;209;p8"/>
          <p:cNvCxnSpPr/>
          <p:nvPr/>
        </p:nvCxnSpPr>
        <p:spPr>
          <a:xfrm>
            <a:off x="2057400" y="5410200"/>
            <a:ext cx="1600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0" name="Google Shape;210;p8"/>
          <p:cNvCxnSpPr/>
          <p:nvPr/>
        </p:nvCxnSpPr>
        <p:spPr>
          <a:xfrm rot="10800000">
            <a:off x="3657600" y="4191000"/>
            <a:ext cx="0" cy="1219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17" name="Google Shape;217;p9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A Web Mining Framework</a:t>
            </a:r>
            <a:endParaRPr/>
          </a:p>
        </p:txBody>
      </p:sp>
      <p:sp>
        <p:nvSpPr>
          <p:cNvPr id="218" name="Google Shape;218;p9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mining usually involves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cleaning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integration from multiple sources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Warehousing the data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cube construction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selection for data mining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Presentation of the mining results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Patterns and knowledge to be used or stored into knowledge-base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228600" y="381000"/>
            <a:ext cx="8686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in Business Intelligence</a:t>
            </a:r>
            <a:r>
              <a:rPr lang="en-US" sz="28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62000" y="1447800"/>
            <a:ext cx="7467600" cy="5029200"/>
          </a:xfrm>
          <a:prstGeom prst="flowChartExtra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27" name="Google Shape;227;p10"/>
          <p:cNvCxnSpPr/>
          <p:nvPr/>
        </p:nvCxnSpPr>
        <p:spPr>
          <a:xfrm>
            <a:off x="1219200" y="5867400"/>
            <a:ext cx="655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8" name="Google Shape;228;p10"/>
          <p:cNvCxnSpPr/>
          <p:nvPr/>
        </p:nvCxnSpPr>
        <p:spPr>
          <a:xfrm>
            <a:off x="1676400" y="5257800"/>
            <a:ext cx="5638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29" name="Google Shape;229;p10"/>
          <p:cNvCxnSpPr/>
          <p:nvPr/>
        </p:nvCxnSpPr>
        <p:spPr>
          <a:xfrm>
            <a:off x="2209800" y="4495800"/>
            <a:ext cx="457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0" name="Google Shape;230;p10"/>
          <p:cNvCxnSpPr/>
          <p:nvPr/>
        </p:nvCxnSpPr>
        <p:spPr>
          <a:xfrm>
            <a:off x="2819400" y="3733800"/>
            <a:ext cx="3352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1" name="Google Shape;231;p10"/>
          <p:cNvCxnSpPr/>
          <p:nvPr/>
        </p:nvCxnSpPr>
        <p:spPr>
          <a:xfrm>
            <a:off x="3429000" y="2895600"/>
            <a:ext cx="2133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2" name="Google Shape;232;p10"/>
          <p:cNvCxnSpPr/>
          <p:nvPr/>
        </p:nvCxnSpPr>
        <p:spPr>
          <a:xfrm rot="10800000">
            <a:off x="533400" y="1447800"/>
            <a:ext cx="0" cy="50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33" name="Google Shape;233;p10"/>
          <p:cNvCxnSpPr/>
          <p:nvPr/>
        </p:nvCxnSpPr>
        <p:spPr>
          <a:xfrm rot="10800000">
            <a:off x="8839200" y="1447800"/>
            <a:ext cx="0" cy="5029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234" name="Google Shape;234;p10"/>
          <p:cNvSpPr txBox="1"/>
          <p:nvPr/>
        </p:nvSpPr>
        <p:spPr>
          <a:xfrm>
            <a:off x="593725" y="1509712"/>
            <a:ext cx="1920875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potential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support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decisions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7748587" y="1955800"/>
            <a:ext cx="10017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7751762" y="2946400"/>
            <a:ext cx="9525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Analyst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7840662" y="3784600"/>
            <a:ext cx="855662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Data</a:t>
            </a:r>
            <a:endParaRPr/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Analyst</a:t>
            </a:r>
            <a:endParaRPr/>
          </a:p>
        </p:txBody>
      </p:sp>
      <p:sp>
        <p:nvSpPr>
          <p:cNvPr id="238" name="Google Shape;238;p10"/>
          <p:cNvSpPr txBox="1"/>
          <p:nvPr/>
        </p:nvSpPr>
        <p:spPr>
          <a:xfrm>
            <a:off x="8102600" y="5689600"/>
            <a:ext cx="611187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DBA</a:t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3886200" y="2178050"/>
            <a:ext cx="12192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Decision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Making</a:t>
            </a: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3352800" y="2992437"/>
            <a:ext cx="22606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Presentation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3276600" y="3352800"/>
            <a:ext cx="25781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Techniques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3657600" y="3765550"/>
            <a:ext cx="17827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3581400" y="4038600"/>
            <a:ext cx="23241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Discovery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3368675" y="4572000"/>
            <a:ext cx="2346325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Exploration</a:t>
            </a:r>
            <a:endParaRPr/>
          </a:p>
        </p:txBody>
      </p:sp>
      <p:sp>
        <p:nvSpPr>
          <p:cNvPr id="245" name="Google Shape;245;p10"/>
          <p:cNvSpPr txBox="1"/>
          <p:nvPr/>
        </p:nvSpPr>
        <p:spPr>
          <a:xfrm>
            <a:off x="2133600" y="4876800"/>
            <a:ext cx="45720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Summary, Querying, and Reporting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1600200" y="5410200"/>
            <a:ext cx="602138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Preprocessing/Integration, Data Warehouses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3581400" y="5791200"/>
            <a:ext cx="16970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Sources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1066800" y="6096000"/>
            <a:ext cx="71183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Paper, Files, Web documents, Scientific experiments, Database Systems</a:t>
            </a:r>
            <a:endParaRPr/>
          </a:p>
        </p:txBody>
      </p:sp>
      <p:cxnSp>
        <p:nvCxnSpPr>
          <p:cNvPr id="249" name="Google Shape;249;p10"/>
          <p:cNvCxnSpPr/>
          <p:nvPr/>
        </p:nvCxnSpPr>
        <p:spPr>
          <a:xfrm>
            <a:off x="457200" y="6477000"/>
            <a:ext cx="8382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256" name="Google Shape;256;p11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Mining vs. Data Exploration</a:t>
            </a:r>
            <a:endParaRPr/>
          </a:p>
        </p:txBody>
      </p:sp>
      <p:sp>
        <p:nvSpPr>
          <p:cNvPr id="257" name="Google Shape;257;p11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intelligence view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Warehouse, data cube, reporting but not much mining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Business objects vs. data mining tools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Supply chain example: tools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presentation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Exploration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264" name="Google Shape;264;p12"/>
          <p:cNvSpPr txBox="1"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KDD Process: A Typical View from ML and Statistics</a:t>
            </a:r>
            <a:endParaRPr/>
          </a:p>
        </p:txBody>
      </p:sp>
      <p:cxnSp>
        <p:nvCxnSpPr>
          <p:cNvPr id="265" name="Google Shape;265;p12"/>
          <p:cNvCxnSpPr/>
          <p:nvPr/>
        </p:nvCxnSpPr>
        <p:spPr>
          <a:xfrm>
            <a:off x="1533525" y="23622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66" name="Google Shape;266;p12"/>
          <p:cNvCxnSpPr/>
          <p:nvPr/>
        </p:nvCxnSpPr>
        <p:spPr>
          <a:xfrm>
            <a:off x="6562725" y="2362200"/>
            <a:ext cx="457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67" name="Google Shape;267;p12"/>
          <p:cNvSpPr txBox="1"/>
          <p:nvPr/>
        </p:nvSpPr>
        <p:spPr>
          <a:xfrm>
            <a:off x="85725" y="2151062"/>
            <a:ext cx="143510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Input Data</a:t>
            </a:r>
            <a:endParaRPr/>
          </a:p>
        </p:txBody>
      </p:sp>
      <p:sp>
        <p:nvSpPr>
          <p:cNvPr id="268" name="Google Shape;268;p12"/>
          <p:cNvSpPr txBox="1"/>
          <p:nvPr/>
        </p:nvSpPr>
        <p:spPr>
          <a:xfrm>
            <a:off x="1990725" y="1981200"/>
            <a:ext cx="914400" cy="1066800"/>
          </a:xfrm>
          <a:prstGeom prst="rect">
            <a:avLst/>
          </a:prstGeom>
          <a:solidFill>
            <a:srgbClr val="00CC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12"/>
          <p:cNvSpPr txBox="1"/>
          <p:nvPr/>
        </p:nvSpPr>
        <p:spPr>
          <a:xfrm>
            <a:off x="3667125" y="1981200"/>
            <a:ext cx="914400" cy="1066800"/>
          </a:xfrm>
          <a:prstGeom prst="rect">
            <a:avLst/>
          </a:prstGeom>
          <a:solidFill>
            <a:srgbClr val="00CC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12"/>
          <p:cNvSpPr/>
          <p:nvPr/>
        </p:nvSpPr>
        <p:spPr>
          <a:xfrm rot="780000">
            <a:off x="7096125" y="1676400"/>
            <a:ext cx="1743075" cy="12954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l"/>
            <a:r>
              <a:rPr b="0" i="0">
                <a:ln w="9525" cap="flat" cmpd="sng">
                  <a:solidFill>
                    <a:srgbClr val="000000"/>
                  </a:solidFill>
                  <a:prstDash val="solid"/>
                  <a:miter lim="800000"/>
                  <a:headEnd type="none" w="sm" len="sm"/>
                  <a:tailEnd type="none" w="sm" len="sm"/>
                </a:ln>
                <a:gradFill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4560000" scaled="0"/>
                </a:gradFill>
                <a:latin typeface="Impact"/>
              </a:rPr>
              <a:t>Pattern Information Knowledge </a:t>
            </a:r>
          </a:p>
        </p:txBody>
      </p:sp>
      <p:sp>
        <p:nvSpPr>
          <p:cNvPr id="271" name="Google Shape;271;p12"/>
          <p:cNvSpPr txBox="1"/>
          <p:nvPr/>
        </p:nvSpPr>
        <p:spPr>
          <a:xfrm>
            <a:off x="3514725" y="2057400"/>
            <a:ext cx="12954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lang="en-US" sz="20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Data Mining</a:t>
            </a:r>
            <a:endParaRPr/>
          </a:p>
        </p:txBody>
      </p:sp>
      <p:sp>
        <p:nvSpPr>
          <p:cNvPr id="272" name="Google Shape;272;p12"/>
          <p:cNvSpPr txBox="1"/>
          <p:nvPr/>
        </p:nvSpPr>
        <p:spPr>
          <a:xfrm>
            <a:off x="1762125" y="2149475"/>
            <a:ext cx="1447800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Pre-Processing</a:t>
            </a:r>
            <a:endParaRPr/>
          </a:p>
        </p:txBody>
      </p:sp>
      <p:cxnSp>
        <p:nvCxnSpPr>
          <p:cNvPr id="273" name="Google Shape;273;p12"/>
          <p:cNvCxnSpPr/>
          <p:nvPr/>
        </p:nvCxnSpPr>
        <p:spPr>
          <a:xfrm>
            <a:off x="3133725" y="23622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74" name="Google Shape;274;p12"/>
          <p:cNvCxnSpPr/>
          <p:nvPr/>
        </p:nvCxnSpPr>
        <p:spPr>
          <a:xfrm>
            <a:off x="4886325" y="2362200"/>
            <a:ext cx="381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275" name="Google Shape;275;p12"/>
          <p:cNvSpPr txBox="1"/>
          <p:nvPr/>
        </p:nvSpPr>
        <p:spPr>
          <a:xfrm>
            <a:off x="5419725" y="1981200"/>
            <a:ext cx="990600" cy="1066800"/>
          </a:xfrm>
          <a:prstGeom prst="rect">
            <a:avLst/>
          </a:prstGeom>
          <a:solidFill>
            <a:srgbClr val="00CC66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5343525" y="2085975"/>
            <a:ext cx="1295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Post-Processing</a:t>
            </a:r>
            <a:endParaRPr/>
          </a:p>
        </p:txBody>
      </p:sp>
      <p:sp>
        <p:nvSpPr>
          <p:cNvPr id="277" name="Google Shape;277;p12"/>
          <p:cNvSpPr txBox="1">
            <a:spLocks noGrp="1"/>
          </p:cNvSpPr>
          <p:nvPr>
            <p:ph type="body" idx="1"/>
          </p:nvPr>
        </p:nvSpPr>
        <p:spPr>
          <a:xfrm>
            <a:off x="381000" y="5791200"/>
            <a:ext cx="815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a view from typical machine learning and statistics communities</a:t>
            </a:r>
            <a:endParaRPr/>
          </a:p>
        </p:txBody>
      </p:sp>
      <p:grpSp>
        <p:nvGrpSpPr>
          <p:cNvPr id="278" name="Google Shape;278;p12"/>
          <p:cNvGrpSpPr/>
          <p:nvPr/>
        </p:nvGrpSpPr>
        <p:grpSpPr>
          <a:xfrm>
            <a:off x="542925" y="3886200"/>
            <a:ext cx="2362200" cy="1143000"/>
            <a:chOff x="288" y="2880"/>
            <a:chExt cx="1488" cy="720"/>
          </a:xfrm>
        </p:grpSpPr>
        <p:sp>
          <p:nvSpPr>
            <p:cNvPr id="279" name="Google Shape;279;p12"/>
            <p:cNvSpPr txBox="1"/>
            <p:nvPr/>
          </p:nvSpPr>
          <p:spPr>
            <a:xfrm>
              <a:off x="288" y="2880"/>
              <a:ext cx="1344" cy="7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0" name="Google Shape;280;p12"/>
            <p:cNvSpPr txBox="1"/>
            <p:nvPr/>
          </p:nvSpPr>
          <p:spPr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Data integration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Normalization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Feature selection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Dimension reduction</a:t>
              </a:r>
              <a:endParaRPr/>
            </a:p>
          </p:txBody>
        </p:sp>
      </p:grpSp>
      <p:sp>
        <p:nvSpPr>
          <p:cNvPr id="281" name="Google Shape;281;p12"/>
          <p:cNvSpPr txBox="1"/>
          <p:nvPr/>
        </p:nvSpPr>
        <p:spPr>
          <a:xfrm>
            <a:off x="3057525" y="3886200"/>
            <a:ext cx="2362200" cy="152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3057525" y="3962400"/>
            <a:ext cx="2438400" cy="1436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Pattern discovery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Association &amp; correlation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Classification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Clustering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Outlier analysis</a:t>
            </a:r>
            <a:endParaRPr/>
          </a:p>
          <a:p>
            <a:pPr marL="0" marR="0" lvl="0" indent="0" algn="l" rtl="0">
              <a:lnSpc>
                <a:spcPct val="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… … … …</a:t>
            </a:r>
            <a:endParaRPr/>
          </a:p>
        </p:txBody>
      </p:sp>
      <p:grpSp>
        <p:nvGrpSpPr>
          <p:cNvPr id="283" name="Google Shape;283;p12"/>
          <p:cNvGrpSpPr/>
          <p:nvPr/>
        </p:nvGrpSpPr>
        <p:grpSpPr>
          <a:xfrm>
            <a:off x="5876925" y="3886200"/>
            <a:ext cx="2362200" cy="1143000"/>
            <a:chOff x="288" y="2880"/>
            <a:chExt cx="1488" cy="720"/>
          </a:xfrm>
        </p:grpSpPr>
        <p:sp>
          <p:nvSpPr>
            <p:cNvPr id="284" name="Google Shape;284;p12"/>
            <p:cNvSpPr txBox="1"/>
            <p:nvPr/>
          </p:nvSpPr>
          <p:spPr>
            <a:xfrm>
              <a:off x="288" y="2880"/>
              <a:ext cx="1344" cy="72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5" name="Google Shape;285;p12"/>
            <p:cNvSpPr txBox="1"/>
            <p:nvPr/>
          </p:nvSpPr>
          <p:spPr>
            <a:xfrm>
              <a:off x="288" y="2943"/>
              <a:ext cx="1488" cy="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6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Pattern evaluation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Pattern selection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Pattern interpretation</a:t>
              </a:r>
              <a:endParaRPr/>
            </a:p>
            <a:p>
              <a:pPr marL="0" marR="0" lvl="0" indent="0" algn="l" rtl="0">
                <a:lnSpc>
                  <a:spcPct val="6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rPr lang="en-US" sz="16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Pattern visualization</a:t>
              </a:r>
              <a:endParaRPr/>
            </a:p>
          </p:txBody>
        </p:sp>
      </p:grpSp>
      <p:sp>
        <p:nvSpPr>
          <p:cNvPr id="286" name="Google Shape;286;p12"/>
          <p:cNvSpPr/>
          <p:nvPr/>
        </p:nvSpPr>
        <p:spPr>
          <a:xfrm rot="-10260000">
            <a:off x="1838325" y="2819400"/>
            <a:ext cx="304800" cy="9906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7" name="Google Shape;287;p12"/>
          <p:cNvSpPr/>
          <p:nvPr/>
        </p:nvSpPr>
        <p:spPr>
          <a:xfrm rot="-10260000">
            <a:off x="3667125" y="2819400"/>
            <a:ext cx="304800" cy="9906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8" name="Google Shape;288;p12"/>
          <p:cNvSpPr/>
          <p:nvPr/>
        </p:nvSpPr>
        <p:spPr>
          <a:xfrm rot="-10260000">
            <a:off x="5800725" y="2819400"/>
            <a:ext cx="304800" cy="99060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Example: Medical Data Mining </a:t>
            </a:r>
            <a:endParaRPr/>
          </a:p>
        </p:txBody>
      </p:sp>
      <p:sp>
        <p:nvSpPr>
          <p:cNvPr id="296" name="Google Shape;296;p13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Health care &amp; medical data mining – often adopted such a view in statistics and machine learning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Preprocessing of the data (including feature extraction and dimension reduction)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Classification or/and clustering processes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Post-processing for presentation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 rot="9720000">
            <a:off x="5753100" y="2287587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</a:t>
            </a:fld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Multi-Dimensional View of Data Mining</a:t>
            </a:r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body" idx="1"/>
          </p:nvPr>
        </p:nvSpPr>
        <p:spPr>
          <a:xfrm>
            <a:off x="304800" y="1219200"/>
            <a:ext cx="8686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1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to be mined</a:t>
            </a: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Database data (extended-relational, object-oriented, heterogeneous, legacy), data warehouse, transactional data, stream, spatiotemporal, time-series, sequence, text and web, multi-media, graphs &amp; social and information networks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1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Knowledge to be mined (or: Data mining functions)</a:t>
            </a: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Characterization, discrimination, association, classification, clustering, trend/deviation, outlier analysis,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Descriptive vs. predictive data mining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Multiple/integrated functions and mining at multiple levels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1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Techniques utilized</a:t>
            </a:r>
            <a:endParaRPr sz="2000" b="1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Data-intensive, data warehouse (OLAP), machine learning, statistics, pattern recognition, visualization, high-performance, etc.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1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 adapted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Retail, telecommunication, banking, fraud analysis, bio-data mining, stock market analysis, text mining, Web mining, etc.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17</a:t>
            </a:fld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 rot="9720000">
            <a:off x="4914900" y="2870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</a:t>
            </a:fld>
            <a:endParaRPr/>
          </a:p>
        </p:txBody>
      </p:sp>
      <p:sp>
        <p:nvSpPr>
          <p:cNvPr id="329" name="Google Shape;329;p17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Mining: On What Kinds of Data?</a:t>
            </a:r>
            <a:endParaRPr/>
          </a:p>
        </p:txBody>
      </p:sp>
      <p:sp>
        <p:nvSpPr>
          <p:cNvPr id="330" name="Google Shape;330;p17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Database-oriented data sets and applications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Relational database, data warehouse, transactional database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Advanced data sets and advanced applications 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streams and sensor data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Time-series data, temporal data, sequence data (incl. bio-sequences) 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Structure data, graphs, social networks and multi-linked data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Object-relational databases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Heterogeneous databases and legacy databases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Spatial data and spatiotemporal data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Multimedia database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Text databases</a:t>
            </a:r>
            <a:endParaRPr/>
          </a:p>
          <a:p>
            <a:pPr marL="742950" lvl="1" indent="-285750" algn="l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World-Wide Web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</a:t>
            </a:fld>
            <a:endParaRPr/>
          </a:p>
        </p:txBody>
      </p:sp>
      <p:sp>
        <p:nvSpPr>
          <p:cNvPr id="337" name="Google Shape;337;p18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338" name="Google Shape;338;p18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 rot="9720000">
            <a:off x="5372100" y="3327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</a:t>
            </a:fld>
            <a:endParaRPr/>
          </a:p>
        </p:txBody>
      </p:sp>
      <p:sp>
        <p:nvSpPr>
          <p:cNvPr id="346" name="Google Shape;346;p19"/>
          <p:cNvSpPr txBox="1">
            <a:spLocks noGrp="1"/>
          </p:cNvSpPr>
          <p:nvPr>
            <p:ph type="title"/>
          </p:nvPr>
        </p:nvSpPr>
        <p:spPr>
          <a:xfrm>
            <a:off x="0" y="381000"/>
            <a:ext cx="91440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Function: (1) Generalization</a:t>
            </a:r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integration and data warehouse construction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cleaning, transformation, integration, and multidimensional data model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cube technology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Scalable methods for computing (i.e., materializing) multidimensional aggregates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OLAP (online analytical processing)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Multidimensional concept description: Characterization and discrimination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Generalize, summarize, and contrast data characteristics, e.g., dry vs. wet region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/>
          </a:p>
        </p:txBody>
      </p:sp>
      <p:sp>
        <p:nvSpPr>
          <p:cNvPr id="354" name="Google Shape;354;p20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763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Function: (2) Association and Correlation Analysis</a:t>
            </a:r>
            <a:endParaRPr/>
          </a:p>
        </p:txBody>
      </p:sp>
      <p:sp>
        <p:nvSpPr>
          <p:cNvPr id="355" name="Google Shape;355;p20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305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Frequent patterns (or frequent itemsets)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items are frequently purchased together in your Walmart?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Association, correlation vs. causality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typical association rule</a:t>
            </a:r>
            <a:endParaRPr/>
          </a:p>
          <a:p>
            <a:pPr marL="1143000" lvl="2" indent="-2286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Diaper 🡪 Beer [0.5%, 75%]  (support, confidence)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strongly associated items also strongly correlated?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mine such patterns and rules efficiently in large datasets?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to use such patterns for classification, clustering, and other applications?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22</a:t>
            </a:fld>
            <a:endParaRPr/>
          </a:p>
        </p:txBody>
      </p:sp>
      <p:sp>
        <p:nvSpPr>
          <p:cNvPr id="362" name="Google Shape;362;p21"/>
          <p:cNvSpPr txBox="1">
            <a:spLocks noGrp="1"/>
          </p:cNvSpPr>
          <p:nvPr>
            <p:ph type="title"/>
          </p:nvPr>
        </p:nvSpPr>
        <p:spPr>
          <a:xfrm>
            <a:off x="228600" y="152400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Function: (3) Classification</a:t>
            </a:r>
            <a:endParaRPr/>
          </a:p>
        </p:txBody>
      </p:sp>
      <p:sp>
        <p:nvSpPr>
          <p:cNvPr id="363" name="Google Shape;363;p21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4582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Classification and label prediction  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Construct models (functions) based on some training examples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Describe and distinguish classes or concepts for future prediction</a:t>
            </a:r>
            <a:endParaRPr/>
          </a:p>
          <a:p>
            <a:pPr marL="1143000" lvl="2" indent="-2286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classify countries based on (climate), or classify cars based on (gas mileage)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Predict some unknown class labels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Typical methods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Decision trees, naïve Bayesian classification, support vector machines, neural networks, rule-based classification, pattern-based classification, logistic regression, …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Typical applications: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Credit card fraud detection, direct marketing, classifying stars, diseases,  web-pages, …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/>
          </a:p>
        </p:txBody>
      </p:sp>
      <p:sp>
        <p:nvSpPr>
          <p:cNvPr id="370" name="Google Shape;370;p22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8991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Function: (4) Cluster Analysis</a:t>
            </a:r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Unsupervised learning (i.e., Class label is unknown)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Group data to form new categories (i.e., clusters), e.g., cluster houses to find distribution patterns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Principle: Maximizing intra-class similarity &amp; minimizing interclass similarity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Many methods and applications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899160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 Function: (5) Outlier Analysis</a:t>
            </a:r>
            <a:endParaRPr/>
          </a:p>
        </p:txBody>
      </p:sp>
      <p:sp>
        <p:nvSpPr>
          <p:cNvPr id="379" name="Google Shape;379;p23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Outlier analysis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Outlier: A data object that does not comply with the general behavior of the data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Noise or exception? ― One person’s garbage could be another person’s treasure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Methods: by product of clustering or regression analysis, …</a:t>
            </a:r>
            <a:endParaRPr/>
          </a:p>
          <a:p>
            <a:pPr marL="742950" lvl="1" indent="-28575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Useful in fraud detection, rare events analysis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899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Time and Ordering: Sequential Pattern, Trend and Evolution Analysis</a:t>
            </a:r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1"/>
          </p:nvPr>
        </p:nvSpPr>
        <p:spPr>
          <a:xfrm>
            <a:off x="304800" y="1371600"/>
            <a:ext cx="85344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Sequence, trend and evolution analysis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Trend, time-series, and deviation analysis: e.g., regression and value prediction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Sequential pattern mining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first buy digital camera, then buy large SD memory cards</a:t>
            </a:r>
            <a:endParaRPr sz="24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Periodicity analysis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Motifs and biological sequence analysis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Approximate and consecutive motifs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Similarity-based analysis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data streams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Ordered, time-varying, potentially infinite, data streams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title"/>
          </p:nvPr>
        </p:nvSpPr>
        <p:spPr>
          <a:xfrm>
            <a:off x="0" y="152400"/>
            <a:ext cx="899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Structure and Network Analysis</a:t>
            </a:r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mining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Finding frequent subgraphs (e.g., chemical compounds), trees (XML), substructures (web fragments)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network analysis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Social networks: actors (objects, nodes) and relationships (edges)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e.g., author networks in CS, terrorist networks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Multiple heterogeneous networks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person could be multiple information networks: friends, family, classmates, …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Links carry a lot of semantic information: Link mining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mining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is a big information network: from PageRank to Google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Analysis of Web information networks</a:t>
            </a:r>
            <a:endParaRPr/>
          </a:p>
          <a:p>
            <a:pPr marL="114300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community discovery, opinion mining, usage mining, …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/>
          </a:p>
        </p:txBody>
      </p:sp>
      <p:sp>
        <p:nvSpPr>
          <p:cNvPr id="402" name="Google Shape;402;p26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Evaluation of Knowledge</a:t>
            </a:r>
            <a:endParaRPr/>
          </a:p>
        </p:txBody>
      </p:sp>
      <p:sp>
        <p:nvSpPr>
          <p:cNvPr id="403" name="Google Shape;403;p26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all mined knowledge interesting?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One can mine tremendous amount of “patterns” and knowledge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may fit only certain dimension space (time, location, …)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 may not be representative, may be transient, …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Evaluation of mined knowledge </a:t>
            </a: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directly mine only interesting knowledge?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Descriptive vs. predictive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Coverage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Typicality vs. novelty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Accuracy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Timeliness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fcd378a14c_0_0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900" cy="7620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410" name="Google Shape;410;g2fcd378a14c_0_0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You are running a company and need to develop learning algorithms to address two distinct problems:</a:t>
            </a:r>
            <a:endParaRPr sz="2400"/>
          </a:p>
          <a:p>
            <a:pPr marL="457200" lvl="0" indent="-2730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lang="en-US" sz="2400"/>
              <a:t>You have a large inventory of identical items and want to predict how many of them will be sold over the next four months.</a:t>
            </a:r>
            <a:endParaRPr sz="2400"/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AutoNum type="arabicPeriod"/>
            </a:pPr>
            <a:r>
              <a:rPr lang="en-US" sz="2400"/>
              <a:t>You need a software system that can examine individual customer accounts and determine whether each account has been hacked or compromised.</a:t>
            </a: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Should you approach each of these as a classification or regression problem? Provide a clear justification for your answer.</a:t>
            </a:r>
            <a:endParaRPr sz="2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1" name="Google Shape;411;g2fcd378a14c_0_0"/>
          <p:cNvSpPr txBox="1">
            <a:spLocks noGrp="1"/>
          </p:cNvSpPr>
          <p:nvPr>
            <p:ph type="sldNum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29</a:t>
            </a:fld>
            <a:endParaRPr/>
          </a:p>
        </p:txBody>
      </p:sp>
      <p:sp>
        <p:nvSpPr>
          <p:cNvPr id="418" name="Google Shape;418;p27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419" name="Google Shape;419;p27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420" name="Google Shape;420;p27"/>
          <p:cNvSpPr/>
          <p:nvPr/>
        </p:nvSpPr>
        <p:spPr>
          <a:xfrm rot="9720000">
            <a:off x="4305300" y="3937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/>
          </a:p>
        </p:txBody>
      </p:sp>
      <p:sp>
        <p:nvSpPr>
          <p:cNvPr id="427" name="Google Shape;427;p28"/>
          <p:cNvSpPr txBox="1">
            <a:spLocks noGrp="1"/>
          </p:cNvSpPr>
          <p:nvPr>
            <p:ph type="title"/>
          </p:nvPr>
        </p:nvSpPr>
        <p:spPr>
          <a:xfrm>
            <a:off x="381000" y="3048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lang="en-US" sz="28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Mining: Confluence of Multiple Disciplines</a:t>
            </a:r>
            <a:r>
              <a:rPr lang="en-US" sz="32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3429000" y="3200400"/>
            <a:ext cx="2286000" cy="10668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</a:t>
            </a:r>
            <a:endParaRPr/>
          </a:p>
        </p:txBody>
      </p:sp>
      <p:cxnSp>
        <p:nvCxnSpPr>
          <p:cNvPr id="429" name="Google Shape;429;p28"/>
          <p:cNvCxnSpPr/>
          <p:nvPr/>
        </p:nvCxnSpPr>
        <p:spPr>
          <a:xfrm>
            <a:off x="2362200" y="3657600"/>
            <a:ext cx="106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0" name="Google Shape;430;p28"/>
          <p:cNvCxnSpPr/>
          <p:nvPr/>
        </p:nvCxnSpPr>
        <p:spPr>
          <a:xfrm>
            <a:off x="2286000" y="2438400"/>
            <a:ext cx="190500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1" name="Google Shape;431;p28"/>
          <p:cNvCxnSpPr/>
          <p:nvPr/>
        </p:nvCxnSpPr>
        <p:spPr>
          <a:xfrm flipH="1">
            <a:off x="4876800" y="2362200"/>
            <a:ext cx="19050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2" name="Google Shape;432;p28"/>
          <p:cNvCxnSpPr/>
          <p:nvPr/>
        </p:nvCxnSpPr>
        <p:spPr>
          <a:xfrm rot="10800000">
            <a:off x="5715000" y="3657600"/>
            <a:ext cx="106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3" name="Google Shape;433;p28"/>
          <p:cNvCxnSpPr/>
          <p:nvPr/>
        </p:nvCxnSpPr>
        <p:spPr>
          <a:xfrm rot="10800000">
            <a:off x="5029200" y="4191000"/>
            <a:ext cx="198120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434" name="Google Shape;434;p28"/>
          <p:cNvCxnSpPr/>
          <p:nvPr/>
        </p:nvCxnSpPr>
        <p:spPr>
          <a:xfrm rot="10800000" flipH="1">
            <a:off x="2438400" y="4191000"/>
            <a:ext cx="160020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35" name="Google Shape;435;p28"/>
          <p:cNvSpPr/>
          <p:nvPr/>
        </p:nvSpPr>
        <p:spPr>
          <a:xfrm>
            <a:off x="10668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Machine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Learning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5867400" y="1600200"/>
            <a:ext cx="2057400" cy="762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Statistics</a:t>
            </a: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304800" y="32766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</a:t>
            </a: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533400" y="47244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</a:t>
            </a:r>
            <a:endParaRPr/>
          </a:p>
        </p:txBody>
      </p:sp>
      <p:sp>
        <p:nvSpPr>
          <p:cNvPr id="439" name="Google Shape;439;p28"/>
          <p:cNvSpPr/>
          <p:nvPr/>
        </p:nvSpPr>
        <p:spPr>
          <a:xfrm>
            <a:off x="3505200" y="16002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Pattern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Recognition</a:t>
            </a:r>
            <a:endParaRPr/>
          </a:p>
        </p:txBody>
      </p:sp>
      <p:sp>
        <p:nvSpPr>
          <p:cNvPr id="440" name="Google Shape;440;p28"/>
          <p:cNvSpPr/>
          <p:nvPr/>
        </p:nvSpPr>
        <p:spPr>
          <a:xfrm>
            <a:off x="6400800" y="48768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High-Performance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Computing</a:t>
            </a:r>
            <a:endParaRPr/>
          </a:p>
        </p:txBody>
      </p:sp>
      <p:sp>
        <p:nvSpPr>
          <p:cNvPr id="441" name="Google Shape;441;p28"/>
          <p:cNvSpPr/>
          <p:nvPr/>
        </p:nvSpPr>
        <p:spPr>
          <a:xfrm>
            <a:off x="6781800" y="32004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Visualization</a:t>
            </a:r>
            <a:endParaRPr/>
          </a:p>
        </p:txBody>
      </p:sp>
      <p:cxnSp>
        <p:nvCxnSpPr>
          <p:cNvPr id="442" name="Google Shape;442;p28"/>
          <p:cNvCxnSpPr/>
          <p:nvPr/>
        </p:nvCxnSpPr>
        <p:spPr>
          <a:xfrm rot="10800000">
            <a:off x="4495800" y="4267200"/>
            <a:ext cx="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443" name="Google Shape;443;p28"/>
          <p:cNvSpPr/>
          <p:nvPr/>
        </p:nvSpPr>
        <p:spPr>
          <a:xfrm>
            <a:off x="3505200" y="4800600"/>
            <a:ext cx="2057400" cy="838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Database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Technology</a:t>
            </a:r>
            <a:endParaRPr/>
          </a:p>
        </p:txBody>
      </p:sp>
      <p:cxnSp>
        <p:nvCxnSpPr>
          <p:cNvPr id="444" name="Google Shape;444;p28"/>
          <p:cNvCxnSpPr/>
          <p:nvPr/>
        </p:nvCxnSpPr>
        <p:spPr>
          <a:xfrm>
            <a:off x="4495800" y="2438400"/>
            <a:ext cx="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31</a:t>
            </a:fld>
            <a:endParaRPr/>
          </a:p>
        </p:txBody>
      </p:sp>
      <p:sp>
        <p:nvSpPr>
          <p:cNvPr id="451" name="Google Shape;451;p29"/>
          <p:cNvSpPr txBox="1">
            <a:spLocks noGrp="1"/>
          </p:cNvSpPr>
          <p:nvPr>
            <p:ph type="title"/>
          </p:nvPr>
        </p:nvSpPr>
        <p:spPr>
          <a:xfrm>
            <a:off x="0" y="30480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Why Confluence of Multiple Disciplines?</a:t>
            </a:r>
            <a:endParaRPr/>
          </a:p>
        </p:txBody>
      </p:sp>
      <p:sp>
        <p:nvSpPr>
          <p:cNvPr id="452" name="Google Shape;452;p2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Tremendous amount of data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Algorithms must be highly scalable to handle such as tera-bytes of data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High-dimensionality of data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Micro-array may have tens of thousands of dimensions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complexity of data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streams and sensor data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Time-series data, temporal data, sequence data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Structure data, graphs, social networks and multi-linked data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Heterogeneous databases and legacy databases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Spatial, spatiotemporal, multimedia, text and Web data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Software programs, scientific simulations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New and sophisticated applications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/>
          </a:p>
        </p:txBody>
      </p:sp>
      <p:sp>
        <p:nvSpPr>
          <p:cNvPr id="459" name="Google Shape;459;p30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460" name="Google Shape;460;p30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 rot="9720000">
            <a:off x="5600700" y="4394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/>
          </a:p>
        </p:txBody>
      </p:sp>
      <p:sp>
        <p:nvSpPr>
          <p:cNvPr id="468" name="Google Shape;468;p31"/>
          <p:cNvSpPr txBox="1">
            <a:spLocks noGrp="1"/>
          </p:cNvSpPr>
          <p:nvPr>
            <p:ph type="title"/>
          </p:nvPr>
        </p:nvSpPr>
        <p:spPr>
          <a:xfrm>
            <a:off x="762000" y="228600"/>
            <a:ext cx="771683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Applications of Data Mining</a:t>
            </a:r>
            <a:endParaRPr/>
          </a:p>
        </p:txBody>
      </p:sp>
      <p:sp>
        <p:nvSpPr>
          <p:cNvPr id="469" name="Google Shape;469;p31"/>
          <p:cNvSpPr txBox="1">
            <a:spLocks noGrp="1"/>
          </p:cNvSpPr>
          <p:nvPr>
            <p:ph type="body" idx="1"/>
          </p:nvPr>
        </p:nvSpPr>
        <p:spPr>
          <a:xfrm>
            <a:off x="381000" y="1371600"/>
            <a:ext cx="84582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page analysis: from web page classification, clustering to PageRank &amp; HITS algorithms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Collaborative analysis &amp; recommender systems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Basket data analysis to targeted marketing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Biological and medical data analysis: classification, cluster analysis (microarray data analysis),  biological sequence analysis, biological network analysis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and software engineering (e.g., IEEE Computer, Aug. 2009 issue)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From major dedicated data mining systems/tools (e.g., SAS, MS SQL-Server Analysis Manager, Oracle Data Mining Tools) to invisible data mining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2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34</a:t>
            </a:fld>
            <a:endParaRPr/>
          </a:p>
        </p:txBody>
      </p:sp>
      <p:sp>
        <p:nvSpPr>
          <p:cNvPr id="476" name="Google Shape;476;p3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477" name="Google Shape;477;p32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478" name="Google Shape;478;p32"/>
          <p:cNvSpPr/>
          <p:nvPr/>
        </p:nvSpPr>
        <p:spPr>
          <a:xfrm rot="9720000">
            <a:off x="4305300" y="4927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3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35</a:t>
            </a:fld>
            <a:endParaRPr/>
          </a:p>
        </p:txBody>
      </p:sp>
      <p:sp>
        <p:nvSpPr>
          <p:cNvPr id="485" name="Google Shape;485;p33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2390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Major Issues in Data Mining (1)</a:t>
            </a:r>
            <a:endParaRPr/>
          </a:p>
        </p:txBody>
      </p:sp>
      <p:sp>
        <p:nvSpPr>
          <p:cNvPr id="486" name="Google Shape;486;p33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Methodology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various and new kinds of knowledge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knowledge in multi-dimensional space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mining: An interdisciplinary effort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Boosting the power of discovery in a networked environment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Handling noise, uncertainty, and incompleteness of data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Pattern evaluation and pattern- or constraint-guided mining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User Interaction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Interactive mining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Incorporation of background knowledge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Presentation and visualization of data mining results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4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36</a:t>
            </a:fld>
            <a:endParaRPr/>
          </a:p>
        </p:txBody>
      </p:sp>
      <p:sp>
        <p:nvSpPr>
          <p:cNvPr id="493" name="Google Shape;493;p34"/>
          <p:cNvSpPr txBox="1">
            <a:spLocks noGrp="1"/>
          </p:cNvSpPr>
          <p:nvPr>
            <p:ph type="title"/>
          </p:nvPr>
        </p:nvSpPr>
        <p:spPr>
          <a:xfrm>
            <a:off x="1066800" y="304800"/>
            <a:ext cx="7239000" cy="585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Major Issues in Data Mining (2)</a:t>
            </a:r>
            <a:endParaRPr/>
          </a:p>
        </p:txBody>
      </p:sp>
      <p:sp>
        <p:nvSpPr>
          <p:cNvPr id="494" name="Google Shape;494;p34"/>
          <p:cNvSpPr txBox="1">
            <a:spLocks noGrp="1"/>
          </p:cNvSpPr>
          <p:nvPr>
            <p:ph type="body" idx="1"/>
          </p:nvPr>
        </p:nvSpPr>
        <p:spPr>
          <a:xfrm>
            <a:off x="381000" y="1524000"/>
            <a:ext cx="83820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Efficiency and Scalability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Efficiency and scalability of data mining algorithms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Parallel, distributed, stream, and incremental mining methods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Diversity of data types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Handling complex types of data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dynamic, networked, and global data repositories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and society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Social impacts of data mining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Privacy-preserving data mining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Invisible data mining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5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37</a:t>
            </a:fld>
            <a:endParaRPr/>
          </a:p>
        </p:txBody>
      </p:sp>
      <p:sp>
        <p:nvSpPr>
          <p:cNvPr id="501" name="Google Shape;501;p35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502" name="Google Shape;502;p35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 rot="9720000">
            <a:off x="7277100" y="5461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38</a:t>
            </a:fld>
            <a:endParaRPr/>
          </a:p>
        </p:txBody>
      </p:sp>
      <p:sp>
        <p:nvSpPr>
          <p:cNvPr id="510" name="Google Shape;510;p36"/>
          <p:cNvSpPr txBox="1">
            <a:spLocks noGrp="1"/>
          </p:cNvSpPr>
          <p:nvPr>
            <p:ph type="title"/>
          </p:nvPr>
        </p:nvSpPr>
        <p:spPr>
          <a:xfrm>
            <a:off x="990600" y="304800"/>
            <a:ext cx="7315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lang="en-US" sz="28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Society</a:t>
            </a:r>
            <a:endParaRPr/>
          </a:p>
        </p:txBody>
      </p:sp>
      <p:sp>
        <p:nvSpPr>
          <p:cNvPr id="511" name="Google Shape;511;p36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1989 IJCAI Workshop on Knowledge Discovery in Databases 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Knowledge Discovery in Databases (G. Piatetsky-Shapiro and W. Frawley, 1991)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1991-1994 Workshops on Knowledge Discovery in Databases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Advances in Knowledge Discovery and Data Mining (U. Fayyad, G. Piatetsky-Shapiro, P. Smyth, and R. Uthurusamy, 1996)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1995-1998 International Conferences on Knowledge Discovery in Databases and Data Mining (KDD’95-98)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 of Data Mining and Knowledge Discovery (1997)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ACM SIGKDD conferences since 1998 and SIGKDD Explorations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conferences on data mining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PAKDD (1997), PKDD (1997), SIAM-Data Mining (2001), (IEEE) ICDM (2001), etc.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ACM Transactions on KDD starting in 2007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39</a:t>
            </a:fld>
            <a:endParaRPr/>
          </a:p>
        </p:txBody>
      </p:sp>
      <p:sp>
        <p:nvSpPr>
          <p:cNvPr id="518" name="Google Shape;518;p37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lang="en-US" sz="28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Conferences and Journals on Data Mining</a:t>
            </a:r>
            <a:endParaRPr/>
          </a:p>
        </p:txBody>
      </p:sp>
      <p:sp>
        <p:nvSpPr>
          <p:cNvPr id="519" name="Google Shape;519;p37"/>
          <p:cNvSpPr txBox="1">
            <a:spLocks noGrp="1"/>
          </p:cNvSpPr>
          <p:nvPr>
            <p:ph type="body" idx="1"/>
          </p:nvPr>
        </p:nvSpPr>
        <p:spPr>
          <a:xfrm>
            <a:off x="152400" y="1295400"/>
            <a:ext cx="441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KDD Conferences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ACM SIGKDD Int. Conf. on Knowledge Discovery in Databases and Data Mining (</a:t>
            </a:r>
            <a:r>
              <a:rPr lang="en-US" sz="18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KDD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SIAM Data Mining Conf. (</a:t>
            </a:r>
            <a:r>
              <a:rPr lang="en-US" sz="18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SDM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(IEEE) Int. Conf. on Data Mining (</a:t>
            </a:r>
            <a:r>
              <a:rPr lang="en-US" sz="18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ICDM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European Conf. on Machine Learning and Principles and practices of Knowledge Discovery and Data Mining (</a:t>
            </a:r>
            <a:r>
              <a:rPr lang="en-US" sz="1800" b="0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ECML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r>
              <a:rPr lang="en-US" sz="18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PKDD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Pacific-Asia Conf. on Knowledge Discovery and Data Mining (</a:t>
            </a:r>
            <a:r>
              <a:rPr lang="en-US" sz="1800" b="0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PAKDD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Int. Conf. on Web Search and Data Mining (</a:t>
            </a:r>
            <a:r>
              <a:rPr lang="en-US" sz="1800" b="0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WSDM</a:t>
            </a: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520" name="Google Shape;520;p37"/>
          <p:cNvSpPr txBox="1"/>
          <p:nvPr/>
        </p:nvSpPr>
        <p:spPr>
          <a:xfrm>
            <a:off x="4495800" y="1371600"/>
            <a:ext cx="43434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marR="0" lvl="0" indent="-3429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Other related conferences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DB conferences: ACM SIGMOD, VLDB, ICDE, EDBT, ICDT, …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and IR conferences: WWW, SIGIR, WSDM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ML conferences: ICML, NIPS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 conferences: CVPR, </a:t>
            </a:r>
            <a:endParaRPr/>
          </a:p>
          <a:p>
            <a:pPr marL="342900" marR="0" lvl="0" indent="-34290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 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and Knowledge Discovery (DAMI or DMKD)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IEEE Trans. On Knowledge and Data Eng. (TKDE)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KDD Explorations</a:t>
            </a:r>
            <a:endParaRPr/>
          </a:p>
          <a:p>
            <a:pPr marL="742950" marR="0" lvl="1" indent="-285750" algn="l" rtl="0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99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ACM Trans. on KDD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/>
          </a:p>
        </p:txBody>
      </p:sp>
      <p:sp>
        <p:nvSpPr>
          <p:cNvPr id="527" name="Google Shape;527;p38"/>
          <p:cNvSpPr txBox="1">
            <a:spLocks noGrp="1"/>
          </p:cNvSpPr>
          <p:nvPr>
            <p:ph type="title"/>
          </p:nvPr>
        </p:nvSpPr>
        <p:spPr>
          <a:xfrm>
            <a:off x="-228600" y="152400"/>
            <a:ext cx="9525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lang="en-US" sz="28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Where to Find References? DBLP, CiteSeer, Google</a:t>
            </a:r>
            <a:endParaRPr/>
          </a:p>
        </p:txBody>
      </p:sp>
      <p:sp>
        <p:nvSpPr>
          <p:cNvPr id="528" name="Google Shape;528;p38"/>
          <p:cNvSpPr txBox="1">
            <a:spLocks noGrp="1"/>
          </p:cNvSpPr>
          <p:nvPr>
            <p:ph type="body" idx="1"/>
          </p:nvPr>
        </p:nvSpPr>
        <p:spPr>
          <a:xfrm>
            <a:off x="3810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and KDD (SIGKDD: CDROM)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Conferences: ACM-SIGKDD, IEEE-ICDM, SIAM-DM, PKDD, PAKDD,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Journal: Data Mining and Knowledge Discovery, KDD Explorations, ACM TKDD</a:t>
            </a:r>
            <a:endParaRPr sz="1400" b="0" i="0"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Database systems (SIGMOD: ACM SIGMOD Anthology</a:t>
            </a:r>
            <a:r>
              <a:rPr lang="en-US" sz="16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</a:t>
            </a: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CD ROM)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Conferences: ACM-SIGMOD, ACM-PODS, VLDB, IEEE-ICDE, EDBT, ICDT, DASFAA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Journals: IEEE-TKDE, ACM-TODS/TOIS, JIIS, J. ACM, VLDB J., Info. Sys., etc.</a:t>
            </a:r>
            <a:endParaRPr sz="1400" b="0" i="0" u="sng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AI &amp; Machine Learning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Conferences: Machine learning (ML), AAAI, IJCAI, COLT (Learning Theory), CVPR, NIPS,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Journals: Machine Learning, Artificial Intelligence, Knowledge and Information Systems, IEEE-PAMI, etc.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Web and IR</a:t>
            </a:r>
            <a:r>
              <a:rPr lang="en-US" sz="1600" b="1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Conferences: SIGIR, WWW, CIKM,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Journals: WWW: Internet and Web Information Systems, 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Statistics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Conferences: Joint Stat. Meeting,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Journals: Annals of statistics, etc.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lang="en-US" sz="1800" b="0" i="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Visualization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Conference proceedings: CHI, ACM-SIGGraph, etc.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hlink"/>
              </a:buClr>
              <a:buSzPts val="770"/>
              <a:buFont typeface="Noto Sans Symbols"/>
              <a:buChar char="■"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Journals: IEEE Trans. visualization and computer graphics, etc.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41</a:t>
            </a:fld>
            <a:endParaRPr/>
          </a:p>
        </p:txBody>
      </p:sp>
      <p:sp>
        <p:nvSpPr>
          <p:cNvPr id="535" name="Google Shape;535;p39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Chapter 1.  Introduction</a:t>
            </a:r>
            <a:endParaRPr/>
          </a:p>
        </p:txBody>
      </p:sp>
      <p:sp>
        <p:nvSpPr>
          <p:cNvPr id="536" name="Google Shape;536;p39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Why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Data Mining?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Multi-Dimensional View of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Data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Kinds of Patterns Can Be Mined?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Technology Are Used?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Kind of Applications Are Targeted?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Brief History of Data Mining and Data Mining Society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537" name="Google Shape;537;p39"/>
          <p:cNvSpPr/>
          <p:nvPr/>
        </p:nvSpPr>
        <p:spPr>
          <a:xfrm rot="9720000">
            <a:off x="2171700" y="5994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 extrusionOk="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 extrusionOk="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800080"/>
          </a:solidFill>
          <a:ln w="9525" cap="flat" cmpd="sng">
            <a:solidFill>
              <a:schemeClr val="dk1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0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42</a:t>
            </a:fld>
            <a:endParaRPr/>
          </a:p>
        </p:txBody>
      </p:sp>
      <p:sp>
        <p:nvSpPr>
          <p:cNvPr id="544" name="Google Shape;544;p40"/>
          <p:cNvSpPr txBox="1">
            <a:spLocks noGrp="1"/>
          </p:cNvSpPr>
          <p:nvPr>
            <p:ph type="title"/>
          </p:nvPr>
        </p:nvSpPr>
        <p:spPr>
          <a:xfrm>
            <a:off x="1066800" y="404812"/>
            <a:ext cx="701040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545" name="Google Shape;545;p40"/>
          <p:cNvSpPr txBox="1">
            <a:spLocks noGrp="1"/>
          </p:cNvSpPr>
          <p:nvPr>
            <p:ph type="body" idx="1"/>
          </p:nvPr>
        </p:nvSpPr>
        <p:spPr>
          <a:xfrm>
            <a:off x="381000" y="1295400"/>
            <a:ext cx="8418512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mining: Discovering interesting patterns and knowledge from massive amount of data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natural evolution of database technology, in great demand, with wide applications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KDD process includes data cleaning, data integration, data selection, transformation, data mining, pattern evaluation, and knowledge presentation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Mining can be performed in a variety of data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functionalities: characterization, discrimination, association, classification, clustering, outlier and trend analysis, etc.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mining technologies and applications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Major issues in data mining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/>
          <p:cNvSpPr txBox="1"/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43</a:t>
            </a:fld>
            <a:endParaRPr/>
          </a:p>
        </p:txBody>
      </p:sp>
      <p:sp>
        <p:nvSpPr>
          <p:cNvPr id="552" name="Google Shape;552;p41"/>
          <p:cNvSpPr txBox="1">
            <a:spLocks noGrp="1"/>
          </p:cNvSpPr>
          <p:nvPr>
            <p:ph type="title"/>
          </p:nvPr>
        </p:nvSpPr>
        <p:spPr>
          <a:xfrm>
            <a:off x="838200" y="381000"/>
            <a:ext cx="71548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lang="en-US" sz="3200" b="1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Recommended Reference Books</a:t>
            </a:r>
            <a:endParaRPr/>
          </a:p>
        </p:txBody>
      </p:sp>
      <p:sp>
        <p:nvSpPr>
          <p:cNvPr id="553" name="Google Shape;553;p41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S. Chakrabarti. Mining the Web: Statistical Analysis of Hypertex and Semi-Structured Data. Morgan Kaufmann, 2002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R. O. Duda, P. E. Hart, and D. G. Stork, Pattern Classification, 2ed., Wiley-Interscience, 2000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T. Dasu and T. Johnson.  Exploratory Data Mining and Data Cleaning. John Wiley &amp; Sons, 2003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U. M. Fayyad, G. Piatetsky-Shapiro, P. Smyth, and R. Uthurusamy. Advances in Knowledge Discovery and Data Mining. AAAI/MIT Press, 1996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U. Fayyad, G. Grinstein, and A. Wierse, Information Visualization in Data Mining and Knowledge Discovery, Morgan Kaufmann, 2001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J. Han and M. Kamber. Data Mining: Concepts and Techniques. Morgan Kaufmann, 3</a:t>
            </a:r>
            <a:r>
              <a:rPr lang="en-US" sz="1200" b="1" i="0" u="none" baseline="300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rd</a:t>
            </a: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ed., 2011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D. J. Hand, H. Mannila, and P. Smyth, Principles of Data Mining, MIT Press, 2001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T. Hastie, R. Tibshirani, and J. Friedman, The Elements of Statistical Learning: Data Mining, Inference, and Prediction, 2</a:t>
            </a:r>
            <a:r>
              <a:rPr lang="en-US" sz="1200" b="1" i="0" u="none" baseline="300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nd</a:t>
            </a: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ed., Springer-Verlag, 2009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B. Liu, Web Data Mining, Springer 2006.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T. M. Mitchell, Machine Learning, McGraw Hill, 1997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G. Piatetsky-Shapiro and W. J. Frawley. Knowledge Discovery in Databases. AAAI/MIT Press, 1991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P.-N. Tan, M. Steinbach and V. Kumar, Introduction to Data Mining, Wiley, 2005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S. M. Weiss and N. Indurkhya, Predictive Data Mining, Morgan Kaufmann, 1998</a:t>
            </a:r>
            <a:endParaRPr/>
          </a:p>
          <a:p>
            <a:pPr marL="342900" lvl="0" indent="-342900" algn="l" rtl="0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Char char="■"/>
            </a:pP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I. H. Witten and E. Frank,  Data Mining: Practical Machine Learning Tools and Techniques with Java Implementations, Morgan Kaufmann, 2</a:t>
            </a:r>
            <a:r>
              <a:rPr lang="en-US" sz="1200" b="1" i="0" u="none" baseline="300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nd</a:t>
            </a:r>
            <a:r>
              <a:rPr lang="en-US" sz="1200" b="1" i="0" u="non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ed. 2005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5F9D29359375429D3B202D8B8E98C5" ma:contentTypeVersion="7" ma:contentTypeDescription="Create a new document." ma:contentTypeScope="" ma:versionID="da5c3fdeb9cd8be8d58d4f7d3d33cf24">
  <xsd:schema xmlns:xsd="http://www.w3.org/2001/XMLSchema" xmlns:xs="http://www.w3.org/2001/XMLSchema" xmlns:p="http://schemas.microsoft.com/office/2006/metadata/properties" xmlns:ns2="b4ab52ff-8a65-4c69-9c3c-e8d7046c8b84" targetNamespace="http://schemas.microsoft.com/office/2006/metadata/properties" ma:root="true" ma:fieldsID="b5691cd5bb225e658c7711ce81fb4177" ns2:_="">
    <xsd:import namespace="b4ab52ff-8a65-4c69-9c3c-e8d7046c8b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ab52ff-8a65-4c69-9c3c-e8d7046c8b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DB5154-9670-4B3E-8622-0CB455C7C2B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94F5820-F235-4656-A2FE-5C94FF98F5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ab52ff-8a65-4c69-9c3c-e8d7046c8b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37B871-4279-42D3-BCF7-EE6B776CEC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3804</Words>
  <Application>Microsoft Office PowerPoint</Application>
  <PresentationFormat>On-screen Show (4:3)</PresentationFormat>
  <Paragraphs>567</Paragraphs>
  <Slides>43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Blends</vt:lpstr>
      <vt:lpstr>1_Blends</vt:lpstr>
      <vt:lpstr>Data Mining:   Concepts and Techniques  (3rd ed.)  — Chapter 1 —</vt:lpstr>
      <vt:lpstr>Gold Mining</vt:lpstr>
      <vt:lpstr>Chapter 1.  Introduction</vt:lpstr>
      <vt:lpstr>Why Data Mining? </vt:lpstr>
      <vt:lpstr>Evolution of Sciences</vt:lpstr>
      <vt:lpstr>Evolution of Database Technology</vt:lpstr>
      <vt:lpstr>Chapter 1.  Introduction</vt:lpstr>
      <vt:lpstr>What Is Data Mining?</vt:lpstr>
      <vt:lpstr>Knowledge Discovery (KDD) Process</vt:lpstr>
      <vt:lpstr>Example: A Web Mining Framework</vt:lpstr>
      <vt:lpstr>Data Mining in Business Intelligence </vt:lpstr>
      <vt:lpstr>Example: Mining vs. Data Exploration</vt:lpstr>
      <vt:lpstr>KDD Process: A Typical View from ML and Statistics</vt:lpstr>
      <vt:lpstr>Example: Medical Data Mining </vt:lpstr>
      <vt:lpstr>Chapter 1.  Introduction</vt:lpstr>
      <vt:lpstr>Multi-Dimensional View of Data Mining</vt:lpstr>
      <vt:lpstr>Chapter 1.  Introduction</vt:lpstr>
      <vt:lpstr>Data Mining: On What Kinds of Data?</vt:lpstr>
      <vt:lpstr>Chapter 1.  Introduction</vt:lpstr>
      <vt:lpstr>Data Mining Function: (1) Generalization</vt:lpstr>
      <vt:lpstr>Data Mining Function: (2) Association and Correlation Analysis</vt:lpstr>
      <vt:lpstr>Data Mining Function: (3) Classification</vt:lpstr>
      <vt:lpstr>Data Mining Function: (4) Cluster Analysis</vt:lpstr>
      <vt:lpstr>Data Mining Function: (5) Outlier Analysis</vt:lpstr>
      <vt:lpstr>Time and Ordering: Sequential Pattern, Trend and Evolution Analysis</vt:lpstr>
      <vt:lpstr>Structure and Network Analysis</vt:lpstr>
      <vt:lpstr>Evaluation of Knowledge</vt:lpstr>
      <vt:lpstr>Exercise</vt:lpstr>
      <vt:lpstr>Chapter 1.  Introduction</vt:lpstr>
      <vt:lpstr>Data Mining: Confluence of Multiple Disciplines </vt:lpstr>
      <vt:lpstr>Why Confluence of Multiple Disciplines?</vt:lpstr>
      <vt:lpstr>Chapter 1.  Introduction</vt:lpstr>
      <vt:lpstr>Applications of Data Mining</vt:lpstr>
      <vt:lpstr>Chapter 1.  Introduction</vt:lpstr>
      <vt:lpstr>Major Issues in Data Mining (1)</vt:lpstr>
      <vt:lpstr>Major Issues in Data Mining (2)</vt:lpstr>
      <vt:lpstr>Chapter 1.  Introduction</vt:lpstr>
      <vt:lpstr>A Brief History of Data Mining Society</vt:lpstr>
      <vt:lpstr>Conferences and Journals on Data Mining</vt:lpstr>
      <vt:lpstr>Where to Find References? DBLP, CiteSeer, Google</vt:lpstr>
      <vt:lpstr>Chapter 1.  Introduction</vt:lpstr>
      <vt:lpstr>Summary</vt:lpstr>
      <vt:lpstr>Recommended Reference Books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Mining:   Concepts and Techniques  (3rd ed.)  — Chapter 1 —</dc:title>
  <dc:creator>Jiawei Han</dc:creator>
  <cp:lastModifiedBy>Md. Ahsan  Habib</cp:lastModifiedBy>
  <cp:revision>3</cp:revision>
  <dcterms:created xsi:type="dcterms:W3CDTF">1999-12-01T22:01:55Z</dcterms:created>
  <dcterms:modified xsi:type="dcterms:W3CDTF">2025-10-15T05:44:27Z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0x010100DD5F9D29359375429D3B202D8B8E98C5</vt:lpwstr>
  </property>
</Properties>
</file>